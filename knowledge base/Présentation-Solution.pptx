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7" r:id="rId10"/>
    <p:sldId id="266" r:id="rId11"/>
    <p:sldId id="268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6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3BA25A-14E0-4D32-BD17-E601CF52080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B66491-50FF-45D6-8FE0-38B2EBFDDF61}">
      <dgm:prSet/>
      <dgm:spPr/>
      <dgm:t>
        <a:bodyPr/>
        <a:lstStyle/>
        <a:p>
          <a:r>
            <a:rPr lang="fr-FR"/>
            <a:t>Équipe support réduite (2 personnes) pour plus de 50 employés</a:t>
          </a:r>
          <a:endParaRPr lang="en-US"/>
        </a:p>
      </dgm:t>
    </dgm:pt>
    <dgm:pt modelId="{E4FBA62B-B32C-44D3-B01A-3A3658E19A0A}" type="parTrans" cxnId="{5ABCE6C6-5305-480B-94E4-9135768A627B}">
      <dgm:prSet/>
      <dgm:spPr/>
      <dgm:t>
        <a:bodyPr/>
        <a:lstStyle/>
        <a:p>
          <a:endParaRPr lang="en-US"/>
        </a:p>
      </dgm:t>
    </dgm:pt>
    <dgm:pt modelId="{0C36F46E-00BE-4251-ABFB-C6D5B332E000}" type="sibTrans" cxnId="{5ABCE6C6-5305-480B-94E4-9135768A627B}">
      <dgm:prSet/>
      <dgm:spPr/>
      <dgm:t>
        <a:bodyPr/>
        <a:lstStyle/>
        <a:p>
          <a:endParaRPr lang="en-US"/>
        </a:p>
      </dgm:t>
    </dgm:pt>
    <dgm:pt modelId="{581F7F71-8DC0-4AA4-80FB-4DDB7C6D4E58}">
      <dgm:prSet/>
      <dgm:spPr/>
      <dgm:t>
        <a:bodyPr/>
        <a:lstStyle/>
        <a:p>
          <a:r>
            <a:rPr lang="fr-FR"/>
            <a:t>Les demandes arrivent par différents canaux</a:t>
          </a:r>
          <a:endParaRPr lang="en-US"/>
        </a:p>
      </dgm:t>
    </dgm:pt>
    <dgm:pt modelId="{611A4194-DD2E-4640-94B8-C2A0283ECA6E}" type="parTrans" cxnId="{D2306132-9234-4F05-B5A0-808201DFA294}">
      <dgm:prSet/>
      <dgm:spPr/>
      <dgm:t>
        <a:bodyPr/>
        <a:lstStyle/>
        <a:p>
          <a:endParaRPr lang="en-US"/>
        </a:p>
      </dgm:t>
    </dgm:pt>
    <dgm:pt modelId="{CE001909-F0B1-4EE6-902F-F7C2B331B66B}" type="sibTrans" cxnId="{D2306132-9234-4F05-B5A0-808201DFA294}">
      <dgm:prSet/>
      <dgm:spPr/>
      <dgm:t>
        <a:bodyPr/>
        <a:lstStyle/>
        <a:p>
          <a:endParaRPr lang="en-US"/>
        </a:p>
      </dgm:t>
    </dgm:pt>
    <dgm:pt modelId="{BB650086-471D-4E10-BDBE-184141628A26}">
      <dgm:prSet/>
      <dgm:spPr/>
      <dgm:t>
        <a:bodyPr/>
        <a:lstStyle/>
        <a:p>
          <a:r>
            <a:rPr lang="fr-FR"/>
            <a:t>Pas de KPI ni de tableaux de suivi</a:t>
          </a:r>
          <a:endParaRPr lang="en-US"/>
        </a:p>
      </dgm:t>
    </dgm:pt>
    <dgm:pt modelId="{4F04997C-976B-4368-89CB-8A487C8493C4}" type="parTrans" cxnId="{1D9BF555-0F77-48BB-AFD2-D2C2160B4663}">
      <dgm:prSet/>
      <dgm:spPr/>
      <dgm:t>
        <a:bodyPr/>
        <a:lstStyle/>
        <a:p>
          <a:endParaRPr lang="en-US"/>
        </a:p>
      </dgm:t>
    </dgm:pt>
    <dgm:pt modelId="{B8FD51FE-4F38-47FC-9223-A0804466F4CC}" type="sibTrans" cxnId="{1D9BF555-0F77-48BB-AFD2-D2C2160B4663}">
      <dgm:prSet/>
      <dgm:spPr/>
      <dgm:t>
        <a:bodyPr/>
        <a:lstStyle/>
        <a:p>
          <a:endParaRPr lang="en-US"/>
        </a:p>
      </dgm:t>
    </dgm:pt>
    <dgm:pt modelId="{492A12D3-D731-4F45-9F4B-09D1E83ED0B9}">
      <dgm:prSet/>
      <dgm:spPr/>
      <dgm:t>
        <a:bodyPr/>
        <a:lstStyle/>
        <a:p>
          <a:r>
            <a:rPr lang="fr-FR"/>
            <a:t>L’équipe support est débordée par les demandes</a:t>
          </a:r>
          <a:endParaRPr lang="en-US"/>
        </a:p>
      </dgm:t>
    </dgm:pt>
    <dgm:pt modelId="{2767EC1B-8F71-45D4-8002-5032D555F63B}" type="parTrans" cxnId="{2B52D12A-1360-4797-8D77-9A84BDDBCE77}">
      <dgm:prSet/>
      <dgm:spPr/>
      <dgm:t>
        <a:bodyPr/>
        <a:lstStyle/>
        <a:p>
          <a:endParaRPr lang="en-US"/>
        </a:p>
      </dgm:t>
    </dgm:pt>
    <dgm:pt modelId="{F288B764-0CFA-4246-B04C-C50955DF1C0E}" type="sibTrans" cxnId="{2B52D12A-1360-4797-8D77-9A84BDDBCE77}">
      <dgm:prSet/>
      <dgm:spPr/>
      <dgm:t>
        <a:bodyPr/>
        <a:lstStyle/>
        <a:p>
          <a:endParaRPr lang="en-US"/>
        </a:p>
      </dgm:t>
    </dgm:pt>
    <dgm:pt modelId="{8A808C3A-23D1-44B8-93E5-76CBB6EFE8D8}">
      <dgm:prSet/>
      <dgm:spPr/>
      <dgm:t>
        <a:bodyPr/>
        <a:lstStyle/>
        <a:p>
          <a:r>
            <a:rPr lang="fr-FR"/>
            <a:t>Des temps de traitements qui ne respectent pas les SLAs</a:t>
          </a:r>
          <a:endParaRPr lang="en-US"/>
        </a:p>
      </dgm:t>
    </dgm:pt>
    <dgm:pt modelId="{2D34E4D9-2ED2-4135-8F9B-B72A799B8318}" type="parTrans" cxnId="{D56C14E1-B08C-429E-A28E-C271243AD1DF}">
      <dgm:prSet/>
      <dgm:spPr/>
      <dgm:t>
        <a:bodyPr/>
        <a:lstStyle/>
        <a:p>
          <a:endParaRPr lang="en-US"/>
        </a:p>
      </dgm:t>
    </dgm:pt>
    <dgm:pt modelId="{1EACACB1-0F9F-4D7C-86BC-1D40AEB7A196}" type="sibTrans" cxnId="{D56C14E1-B08C-429E-A28E-C271243AD1DF}">
      <dgm:prSet/>
      <dgm:spPr/>
      <dgm:t>
        <a:bodyPr/>
        <a:lstStyle/>
        <a:p>
          <a:endParaRPr lang="en-US"/>
        </a:p>
      </dgm:t>
    </dgm:pt>
    <dgm:pt modelId="{0C24887D-2944-F143-80BA-0EDB0996515D}" type="pres">
      <dgm:prSet presAssocID="{D73BA25A-14E0-4D32-BD17-E601CF52080B}" presName="linear" presStyleCnt="0">
        <dgm:presLayoutVars>
          <dgm:animLvl val="lvl"/>
          <dgm:resizeHandles val="exact"/>
        </dgm:presLayoutVars>
      </dgm:prSet>
      <dgm:spPr/>
    </dgm:pt>
    <dgm:pt modelId="{E66B2467-25D3-F94F-BF4C-C066B1DDC3D0}" type="pres">
      <dgm:prSet presAssocID="{0CB66491-50FF-45D6-8FE0-38B2EBFDDF6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63AAA75-E875-244C-992B-DB4AB2301120}" type="pres">
      <dgm:prSet presAssocID="{0C36F46E-00BE-4251-ABFB-C6D5B332E000}" presName="spacer" presStyleCnt="0"/>
      <dgm:spPr/>
    </dgm:pt>
    <dgm:pt modelId="{9F2E090B-912D-8042-BB75-216DE4E853C5}" type="pres">
      <dgm:prSet presAssocID="{581F7F71-8DC0-4AA4-80FB-4DDB7C6D4E5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F88BA62-DEB4-2544-8274-CDEC92C44BA8}" type="pres">
      <dgm:prSet presAssocID="{CE001909-F0B1-4EE6-902F-F7C2B331B66B}" presName="spacer" presStyleCnt="0"/>
      <dgm:spPr/>
    </dgm:pt>
    <dgm:pt modelId="{CAC29388-BFD6-284C-97E2-0DB008476EED}" type="pres">
      <dgm:prSet presAssocID="{BB650086-471D-4E10-BDBE-184141628A2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06835C0-BF7D-A341-8EC0-D6935D27C2B2}" type="pres">
      <dgm:prSet presAssocID="{B8FD51FE-4F38-47FC-9223-A0804466F4CC}" presName="spacer" presStyleCnt="0"/>
      <dgm:spPr/>
    </dgm:pt>
    <dgm:pt modelId="{DAB9A842-A1D0-3945-99FF-2F5F728EC3F1}" type="pres">
      <dgm:prSet presAssocID="{492A12D3-D731-4F45-9F4B-09D1E83ED0B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64B8C88-24BE-DE4A-8B90-5EDD1EA1F31E}" type="pres">
      <dgm:prSet presAssocID="{F288B764-0CFA-4246-B04C-C50955DF1C0E}" presName="spacer" presStyleCnt="0"/>
      <dgm:spPr/>
    </dgm:pt>
    <dgm:pt modelId="{D8C1B665-3565-7143-9B90-A21863ECB2A6}" type="pres">
      <dgm:prSet presAssocID="{8A808C3A-23D1-44B8-93E5-76CBB6EFE8D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4BA360E-883A-E94B-835F-B368223E71C6}" type="presOf" srcId="{581F7F71-8DC0-4AA4-80FB-4DDB7C6D4E58}" destId="{9F2E090B-912D-8042-BB75-216DE4E853C5}" srcOrd="0" destOrd="0" presId="urn:microsoft.com/office/officeart/2005/8/layout/vList2"/>
    <dgm:cxn modelId="{12010A27-DDE6-3E4E-882C-30F3D58F1B13}" type="presOf" srcId="{492A12D3-D731-4F45-9F4B-09D1E83ED0B9}" destId="{DAB9A842-A1D0-3945-99FF-2F5F728EC3F1}" srcOrd="0" destOrd="0" presId="urn:microsoft.com/office/officeart/2005/8/layout/vList2"/>
    <dgm:cxn modelId="{6FE34A28-7746-484E-8723-7C249B05204A}" type="presOf" srcId="{D73BA25A-14E0-4D32-BD17-E601CF52080B}" destId="{0C24887D-2944-F143-80BA-0EDB0996515D}" srcOrd="0" destOrd="0" presId="urn:microsoft.com/office/officeart/2005/8/layout/vList2"/>
    <dgm:cxn modelId="{2B52D12A-1360-4797-8D77-9A84BDDBCE77}" srcId="{D73BA25A-14E0-4D32-BD17-E601CF52080B}" destId="{492A12D3-D731-4F45-9F4B-09D1E83ED0B9}" srcOrd="3" destOrd="0" parTransId="{2767EC1B-8F71-45D4-8002-5032D555F63B}" sibTransId="{F288B764-0CFA-4246-B04C-C50955DF1C0E}"/>
    <dgm:cxn modelId="{D2306132-9234-4F05-B5A0-808201DFA294}" srcId="{D73BA25A-14E0-4D32-BD17-E601CF52080B}" destId="{581F7F71-8DC0-4AA4-80FB-4DDB7C6D4E58}" srcOrd="1" destOrd="0" parTransId="{611A4194-DD2E-4640-94B8-C2A0283ECA6E}" sibTransId="{CE001909-F0B1-4EE6-902F-F7C2B331B66B}"/>
    <dgm:cxn modelId="{1D9BF555-0F77-48BB-AFD2-D2C2160B4663}" srcId="{D73BA25A-14E0-4D32-BD17-E601CF52080B}" destId="{BB650086-471D-4E10-BDBE-184141628A26}" srcOrd="2" destOrd="0" parTransId="{4F04997C-976B-4368-89CB-8A487C8493C4}" sibTransId="{B8FD51FE-4F38-47FC-9223-A0804466F4CC}"/>
    <dgm:cxn modelId="{9EC1225A-FDED-0F48-9091-A41E87E53047}" type="presOf" srcId="{8A808C3A-23D1-44B8-93E5-76CBB6EFE8D8}" destId="{D8C1B665-3565-7143-9B90-A21863ECB2A6}" srcOrd="0" destOrd="0" presId="urn:microsoft.com/office/officeart/2005/8/layout/vList2"/>
    <dgm:cxn modelId="{839095B3-9CD2-D744-ACF2-17D8680A4097}" type="presOf" srcId="{0CB66491-50FF-45D6-8FE0-38B2EBFDDF61}" destId="{E66B2467-25D3-F94F-BF4C-C066B1DDC3D0}" srcOrd="0" destOrd="0" presId="urn:microsoft.com/office/officeart/2005/8/layout/vList2"/>
    <dgm:cxn modelId="{5ABCE6C6-5305-480B-94E4-9135768A627B}" srcId="{D73BA25A-14E0-4D32-BD17-E601CF52080B}" destId="{0CB66491-50FF-45D6-8FE0-38B2EBFDDF61}" srcOrd="0" destOrd="0" parTransId="{E4FBA62B-B32C-44D3-B01A-3A3658E19A0A}" sibTransId="{0C36F46E-00BE-4251-ABFB-C6D5B332E000}"/>
    <dgm:cxn modelId="{A370E7D1-2913-1947-B360-14B251CE3F08}" type="presOf" srcId="{BB650086-471D-4E10-BDBE-184141628A26}" destId="{CAC29388-BFD6-284C-97E2-0DB008476EED}" srcOrd="0" destOrd="0" presId="urn:microsoft.com/office/officeart/2005/8/layout/vList2"/>
    <dgm:cxn modelId="{D56C14E1-B08C-429E-A28E-C271243AD1DF}" srcId="{D73BA25A-14E0-4D32-BD17-E601CF52080B}" destId="{8A808C3A-23D1-44B8-93E5-76CBB6EFE8D8}" srcOrd="4" destOrd="0" parTransId="{2D34E4D9-2ED2-4135-8F9B-B72A799B8318}" sibTransId="{1EACACB1-0F9F-4D7C-86BC-1D40AEB7A196}"/>
    <dgm:cxn modelId="{B42E36D9-366A-6F47-9391-1D726CD975A0}" type="presParOf" srcId="{0C24887D-2944-F143-80BA-0EDB0996515D}" destId="{E66B2467-25D3-F94F-BF4C-C066B1DDC3D0}" srcOrd="0" destOrd="0" presId="urn:microsoft.com/office/officeart/2005/8/layout/vList2"/>
    <dgm:cxn modelId="{A9845984-0934-6545-B42A-00CC68654023}" type="presParOf" srcId="{0C24887D-2944-F143-80BA-0EDB0996515D}" destId="{863AAA75-E875-244C-992B-DB4AB2301120}" srcOrd="1" destOrd="0" presId="urn:microsoft.com/office/officeart/2005/8/layout/vList2"/>
    <dgm:cxn modelId="{E8585363-38A5-1042-BAE9-3312FFB21B85}" type="presParOf" srcId="{0C24887D-2944-F143-80BA-0EDB0996515D}" destId="{9F2E090B-912D-8042-BB75-216DE4E853C5}" srcOrd="2" destOrd="0" presId="urn:microsoft.com/office/officeart/2005/8/layout/vList2"/>
    <dgm:cxn modelId="{02887B83-D12B-374D-BD2D-B6E123A59693}" type="presParOf" srcId="{0C24887D-2944-F143-80BA-0EDB0996515D}" destId="{5F88BA62-DEB4-2544-8274-CDEC92C44BA8}" srcOrd="3" destOrd="0" presId="urn:microsoft.com/office/officeart/2005/8/layout/vList2"/>
    <dgm:cxn modelId="{75492005-76D2-2E45-AC10-FB18F63D3B34}" type="presParOf" srcId="{0C24887D-2944-F143-80BA-0EDB0996515D}" destId="{CAC29388-BFD6-284C-97E2-0DB008476EED}" srcOrd="4" destOrd="0" presId="urn:microsoft.com/office/officeart/2005/8/layout/vList2"/>
    <dgm:cxn modelId="{D0C4FA77-F6C0-4740-8DC1-EFE7A8439159}" type="presParOf" srcId="{0C24887D-2944-F143-80BA-0EDB0996515D}" destId="{406835C0-BF7D-A341-8EC0-D6935D27C2B2}" srcOrd="5" destOrd="0" presId="urn:microsoft.com/office/officeart/2005/8/layout/vList2"/>
    <dgm:cxn modelId="{EA093F63-9B0E-5743-8D37-E2A91E66B054}" type="presParOf" srcId="{0C24887D-2944-F143-80BA-0EDB0996515D}" destId="{DAB9A842-A1D0-3945-99FF-2F5F728EC3F1}" srcOrd="6" destOrd="0" presId="urn:microsoft.com/office/officeart/2005/8/layout/vList2"/>
    <dgm:cxn modelId="{C34C26DE-E142-1D41-9E00-C0A53B974909}" type="presParOf" srcId="{0C24887D-2944-F143-80BA-0EDB0996515D}" destId="{B64B8C88-24BE-DE4A-8B90-5EDD1EA1F31E}" srcOrd="7" destOrd="0" presId="urn:microsoft.com/office/officeart/2005/8/layout/vList2"/>
    <dgm:cxn modelId="{C766BFDF-70AA-7B4E-8445-41B1AFA43A5C}" type="presParOf" srcId="{0C24887D-2944-F143-80BA-0EDB0996515D}" destId="{D8C1B665-3565-7143-9B90-A21863ECB2A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6B2467-25D3-F94F-BF4C-C066B1DDC3D0}">
      <dsp:nvSpPr>
        <dsp:cNvPr id="0" name=""/>
        <dsp:cNvSpPr/>
      </dsp:nvSpPr>
      <dsp:spPr>
        <a:xfrm>
          <a:off x="0" y="32610"/>
          <a:ext cx="6900512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Équipe support réduite (2 personnes) pour plus de 50 employés</a:t>
          </a:r>
          <a:endParaRPr lang="en-US" sz="2600" kern="1200"/>
        </a:p>
      </dsp:txBody>
      <dsp:txXfrm>
        <a:off x="50489" y="83099"/>
        <a:ext cx="6799534" cy="933302"/>
      </dsp:txXfrm>
    </dsp:sp>
    <dsp:sp modelId="{9F2E090B-912D-8042-BB75-216DE4E853C5}">
      <dsp:nvSpPr>
        <dsp:cNvPr id="0" name=""/>
        <dsp:cNvSpPr/>
      </dsp:nvSpPr>
      <dsp:spPr>
        <a:xfrm>
          <a:off x="0" y="1141770"/>
          <a:ext cx="6900512" cy="103428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Les demandes arrivent par différents canaux</a:t>
          </a:r>
          <a:endParaRPr lang="en-US" sz="2600" kern="1200"/>
        </a:p>
      </dsp:txBody>
      <dsp:txXfrm>
        <a:off x="50489" y="1192259"/>
        <a:ext cx="6799534" cy="933302"/>
      </dsp:txXfrm>
    </dsp:sp>
    <dsp:sp modelId="{CAC29388-BFD6-284C-97E2-0DB008476EED}">
      <dsp:nvSpPr>
        <dsp:cNvPr id="0" name=""/>
        <dsp:cNvSpPr/>
      </dsp:nvSpPr>
      <dsp:spPr>
        <a:xfrm>
          <a:off x="0" y="2250930"/>
          <a:ext cx="6900512" cy="1034280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Pas de KPI ni de tableaux de suivi</a:t>
          </a:r>
          <a:endParaRPr lang="en-US" sz="2600" kern="1200"/>
        </a:p>
      </dsp:txBody>
      <dsp:txXfrm>
        <a:off x="50489" y="2301419"/>
        <a:ext cx="6799534" cy="933302"/>
      </dsp:txXfrm>
    </dsp:sp>
    <dsp:sp modelId="{DAB9A842-A1D0-3945-99FF-2F5F728EC3F1}">
      <dsp:nvSpPr>
        <dsp:cNvPr id="0" name=""/>
        <dsp:cNvSpPr/>
      </dsp:nvSpPr>
      <dsp:spPr>
        <a:xfrm>
          <a:off x="0" y="3360090"/>
          <a:ext cx="6900512" cy="1034280"/>
        </a:xfrm>
        <a:prstGeom prst="roundRect">
          <a:avLst/>
        </a:prstGeom>
        <a:solidFill>
          <a:schemeClr val="accent2">
            <a:hueOff val="4832709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L’équipe support est débordée par les demandes</a:t>
          </a:r>
          <a:endParaRPr lang="en-US" sz="2600" kern="1200"/>
        </a:p>
      </dsp:txBody>
      <dsp:txXfrm>
        <a:off x="50489" y="3410579"/>
        <a:ext cx="6799534" cy="933302"/>
      </dsp:txXfrm>
    </dsp:sp>
    <dsp:sp modelId="{D8C1B665-3565-7143-9B90-A21863ECB2A6}">
      <dsp:nvSpPr>
        <dsp:cNvPr id="0" name=""/>
        <dsp:cNvSpPr/>
      </dsp:nvSpPr>
      <dsp:spPr>
        <a:xfrm>
          <a:off x="0" y="4469250"/>
          <a:ext cx="6900512" cy="103428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Des temps de traitements qui ne respectent pas les SLAs</a:t>
          </a:r>
          <a:endParaRPr lang="en-US" sz="2600" kern="1200"/>
        </a:p>
      </dsp:txBody>
      <dsp:txXfrm>
        <a:off x="50489" y="4519739"/>
        <a:ext cx="6799534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A3C28D-4666-CAF9-D2B8-CBEB35643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7FC4887-5A61-F700-9784-BE0565079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B7B38D-5410-99FC-3CDC-786EAE28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27D-4909-4244-8157-312CA3CB0C2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4EBD2E-D22B-DBC4-A257-276FE0AE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4C3D82-24A3-F4C1-6958-A624BA65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14BC1-C963-DD4C-B81F-BAAA7360D0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364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59ED0-C17B-2110-F7FE-8BFE38613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E9612-E1A7-C259-A254-D8AF48193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8911A0-D7BE-1022-8440-96ACEAD0C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27D-4909-4244-8157-312CA3CB0C2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0DE261-DDF3-1CE2-4ED0-BF70F7CE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8D4CC2-E866-684F-D5E7-D08097E3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14BC1-C963-DD4C-B81F-BAAA7360D0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447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D538AF-2F50-48BB-542F-B209B76F3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F354C6-5CEE-FE6E-B6FC-AEDACA5DB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EB45CA-F41C-2061-0A02-1263CE44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27D-4909-4244-8157-312CA3CB0C2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D23668-09A1-4C95-A416-2CAFE4620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FD1046-9772-9A72-448C-EAD94449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14BC1-C963-DD4C-B81F-BAAA7360D0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90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EA2775-4DCB-4184-836C-944C031A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9791BA-1109-D08D-D238-ED397EED9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52AE37-2D17-F3A2-A858-F30A847F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142B96-42F5-D8D1-C676-F9294312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27D-4909-4244-8157-312CA3CB0C2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8B3A3F-142C-737E-661A-8DD89AF48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76C8EA-1042-8200-4E73-2D0F2F895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14BC1-C963-DD4C-B81F-BAAA7360D0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612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1E81D-41B7-2BF9-638C-3D53F47A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AD78E3-4595-9C36-BD7E-87E950EA0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6075D0C-82F0-C98D-CFC6-687D67186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E958920-56B1-B552-2CC1-8845D62DC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F94DD1B-30CE-A98A-657B-1F87D5574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686A022-FFE3-B9C6-5726-30667999F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27D-4909-4244-8157-312CA3CB0C2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0FA6A3C-A5B1-C94E-DFCF-CFF32A77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EA6786A-FF7C-E6B3-E53F-C1DA9749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14BC1-C963-DD4C-B81F-BAAA7360D0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76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6AEC91-16DB-BDE3-7F45-60D7C7F3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3EBC3DB-3778-1934-141E-26D0C92F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27D-4909-4244-8157-312CA3CB0C2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90D811F-E400-E7C0-374B-545F9E446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E7A54A0-C47B-9111-F1A8-9A1425B1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14BC1-C963-DD4C-B81F-BAAA7360D0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12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A5D027F-CDD2-CFDE-A4DD-12F569D53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27D-4909-4244-8157-312CA3CB0C2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B08488-F674-F863-FB56-ED94FA8A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9277E0-771F-405A-9E38-3DC061B7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14BC1-C963-DD4C-B81F-BAAA7360D0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61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330197-AE3C-12A0-63E3-CC15BFAA4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A1171C-47A9-071F-6242-539EA5C6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149776-92B3-5323-7086-12F43F660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F992D7-613A-1AC2-6AFA-72F30ACD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27D-4909-4244-8157-312CA3CB0C2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E5D3446-1606-D334-6CF8-BEA02D05D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E58CA3-322A-22B5-8DC2-246ACE7E3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14BC1-C963-DD4C-B81F-BAAA7360D0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470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8C0AD6-1FFC-1EB8-6A1F-4100ADE79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78829D0-60E4-40A7-23B9-C9C00CDDE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C05CBB8-5B15-4DA5-BE7B-FC582E433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0111C7-1A0B-A7E8-2EB1-EB4FFF48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27D-4909-4244-8157-312CA3CB0C2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752EE2-E90A-416A-C53E-F6BFE4B9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C48BA1-ABAE-125B-A051-8FBA21DC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14BC1-C963-DD4C-B81F-BAAA7360D0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19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524327-D815-F931-1778-86BC239C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59C90E7-C688-858B-42F4-AB535298F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751958-FBED-7A18-B143-17CF4ED04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27D-4909-4244-8157-312CA3CB0C2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4563DA-9A67-B908-29BF-CA8678AE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20EF41-D71A-91D6-8924-8C7EA44E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14BC1-C963-DD4C-B81F-BAAA7360D0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762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75315AD-B565-052F-24F0-1EA6A068A5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831450-D61D-FD27-5F4D-2B36775BE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1269B6-1E5D-2515-B2D1-F31D3F02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127D-4909-4244-8157-312CA3CB0C2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4C56C9-B1E3-B67F-602F-9CCB1AC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A4C11C-C5E1-E7F7-073B-A4749C729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14BC1-C963-DD4C-B81F-BAAA7360D0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339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C49029A-DD58-55FF-E789-D27FCDBC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280C66-C098-276E-B7EF-9D5E39F84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942832-56D0-D5C6-5558-C361B7279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9127D-4909-4244-8157-312CA3CB0C2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748DA7-FC44-973D-A51D-E7A05CA6F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918256-1713-3B8C-5330-209125793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14BC1-C963-DD4C-B81F-BAAA7360D0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7586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diagrams.net/#G1r75K-w7OXW1BTS6VqBSmQ1662_qBJKOI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CCC1A136-E791-1946-8A1B-CE37518A13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777A70-D1EA-A2C4-AE2F-9FD9E90D5BEC}"/>
              </a:ext>
            </a:extLst>
          </p:cNvPr>
          <p:cNvSpPr/>
          <p:nvPr/>
        </p:nvSpPr>
        <p:spPr>
          <a:xfrm>
            <a:off x="0" y="0"/>
            <a:ext cx="12192000" cy="74155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8A990E3-E92C-B5CB-77D7-D06C6B216ECE}"/>
              </a:ext>
            </a:extLst>
          </p:cNvPr>
          <p:cNvSpPr txBox="1"/>
          <p:nvPr/>
        </p:nvSpPr>
        <p:spPr>
          <a:xfrm>
            <a:off x="4850780" y="4168880"/>
            <a:ext cx="1912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Janvier 2026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B3931C2-4677-4E46-2507-C8809FD195C8}"/>
              </a:ext>
            </a:extLst>
          </p:cNvPr>
          <p:cNvSpPr txBox="1"/>
          <p:nvPr/>
        </p:nvSpPr>
        <p:spPr>
          <a:xfrm>
            <a:off x="2486723" y="2316163"/>
            <a:ext cx="6657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 err="1">
                <a:solidFill>
                  <a:schemeClr val="bg1"/>
                </a:solidFill>
              </a:rPr>
              <a:t>Steerco</a:t>
            </a:r>
            <a:r>
              <a:rPr lang="fr-FR" sz="3600" dirty="0">
                <a:solidFill>
                  <a:schemeClr val="bg1"/>
                </a:solidFill>
              </a:rPr>
              <a:t> :</a:t>
            </a:r>
            <a:br>
              <a:rPr lang="fr-FR" sz="3600" dirty="0">
                <a:solidFill>
                  <a:schemeClr val="bg1"/>
                </a:solidFill>
              </a:rPr>
            </a:br>
            <a:r>
              <a:rPr lang="fr-FR" sz="3600" dirty="0" err="1">
                <a:solidFill>
                  <a:schemeClr val="bg1"/>
                </a:solidFill>
              </a:rPr>
              <a:t>GiantLink</a:t>
            </a:r>
            <a:r>
              <a:rPr lang="fr-FR" sz="3600" dirty="0">
                <a:solidFill>
                  <a:schemeClr val="bg1"/>
                </a:solidFill>
              </a:rPr>
              <a:t> Support</a:t>
            </a:r>
          </a:p>
        </p:txBody>
      </p:sp>
    </p:spTree>
    <p:extLst>
      <p:ext uri="{BB962C8B-B14F-4D97-AF65-F5344CB8AC3E}">
        <p14:creationId xmlns:p14="http://schemas.microsoft.com/office/powerpoint/2010/main" val="679973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B89002A-7458-2A28-7102-326C92651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fr-FR" sz="5400" dirty="0">
                <a:solidFill>
                  <a:schemeClr val="bg1"/>
                </a:solidFill>
              </a:rPr>
              <a:t>Contexte &amp; problème 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Espace réservé du contenu 5">
            <a:extLst>
              <a:ext uri="{FF2B5EF4-FFF2-40B4-BE49-F238E27FC236}">
                <a16:creationId xmlns:a16="http://schemas.microsoft.com/office/drawing/2014/main" id="{C3EABBFF-BDE6-C98B-A3A6-3DF827995B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851754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D2C86A11-451F-6A92-C4FB-7765B0486E4C}"/>
              </a:ext>
            </a:extLst>
          </p:cNvPr>
          <p:cNvSpPr txBox="1"/>
          <p:nvPr/>
        </p:nvSpPr>
        <p:spPr>
          <a:xfrm>
            <a:off x="5697415" y="2672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6202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E8340-834F-314A-88D5-FDAC0BA5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Analyse de l’existant : Constat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DC85BF-C412-D3CC-0479-6FB12E2EB7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28711"/>
            <a:ext cx="10616689" cy="3917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Plusieurs points d’entrée pour le support (GLPI,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Tech</a:t>
            </a:r>
            <a:r>
              <a:rPr lang="fr-FR" altLang="fr-FR" sz="2400" dirty="0" err="1">
                <a:solidFill>
                  <a:schemeClr val="bg1"/>
                </a:solidFill>
              </a:rPr>
              <a:t>Support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whatsapp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…)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fr-FR" sz="2400" dirty="0">
                <a:solidFill>
                  <a:schemeClr val="bg1"/>
                </a:solidFill>
              </a:rPr>
              <a:t> Beaucoup de demandes simples et répétitives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Le support passe beaucoup de temps à qualifier et réassigner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fr-FR" sz="2400" dirty="0">
                <a:solidFill>
                  <a:schemeClr val="bg1"/>
                </a:solidFill>
              </a:rPr>
              <a:t> Pas de priorisation claire des tickets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fr-FR" sz="2400" dirty="0">
                <a:solidFill>
                  <a:schemeClr val="bg1"/>
                </a:solidFill>
              </a:rPr>
              <a:t> Catégorisation des tickets orientée par équipes et non par type de problème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fr-FR" altLang="fr-FR" sz="2400" dirty="0">
                <a:solidFill>
                  <a:schemeClr val="bg1"/>
                </a:solidFill>
              </a:rPr>
              <a:t> Pas de documentation existante =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Aucune capitalisation de la connaissance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Aucune capitalisation de la connaissance aujourd’hui</a:t>
            </a:r>
          </a:p>
        </p:txBody>
      </p:sp>
    </p:spTree>
    <p:extLst>
      <p:ext uri="{BB962C8B-B14F-4D97-AF65-F5344CB8AC3E}">
        <p14:creationId xmlns:p14="http://schemas.microsoft.com/office/powerpoint/2010/main" val="1890662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25FA49-C1EE-5B56-ACF1-2B7CD780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Enjeux &amp; besoins </a:t>
            </a:r>
          </a:p>
        </p:txBody>
      </p:sp>
      <p:sp>
        <p:nvSpPr>
          <p:cNvPr id="8" name="Terminaison 7">
            <a:extLst>
              <a:ext uri="{FF2B5EF4-FFF2-40B4-BE49-F238E27FC236}">
                <a16:creationId xmlns:a16="http://schemas.microsoft.com/office/drawing/2014/main" id="{D200A564-4949-72E1-7AAD-0932C5C22BB4}"/>
              </a:ext>
            </a:extLst>
          </p:cNvPr>
          <p:cNvSpPr/>
          <p:nvPr/>
        </p:nvSpPr>
        <p:spPr>
          <a:xfrm>
            <a:off x="6096000" y="1564079"/>
            <a:ext cx="3990534" cy="1026942"/>
          </a:xfrm>
          <a:prstGeom prst="flowChartTerminator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Assurer la continuité du support</a:t>
            </a:r>
          </a:p>
        </p:txBody>
      </p:sp>
      <p:sp>
        <p:nvSpPr>
          <p:cNvPr id="9" name="Terminaison 8">
            <a:extLst>
              <a:ext uri="{FF2B5EF4-FFF2-40B4-BE49-F238E27FC236}">
                <a16:creationId xmlns:a16="http://schemas.microsoft.com/office/drawing/2014/main" id="{9E384758-ACC9-B4EF-E2E9-A8A86AA30967}"/>
              </a:ext>
            </a:extLst>
          </p:cNvPr>
          <p:cNvSpPr/>
          <p:nvPr/>
        </p:nvSpPr>
        <p:spPr>
          <a:xfrm>
            <a:off x="6096000" y="2841674"/>
            <a:ext cx="3990534" cy="1026942"/>
          </a:xfrm>
          <a:prstGeom prst="flowChartTerminator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Réduire la charge sur les équipes support</a:t>
            </a:r>
          </a:p>
        </p:txBody>
      </p:sp>
      <p:sp>
        <p:nvSpPr>
          <p:cNvPr id="10" name="Terminaison 9">
            <a:extLst>
              <a:ext uri="{FF2B5EF4-FFF2-40B4-BE49-F238E27FC236}">
                <a16:creationId xmlns:a16="http://schemas.microsoft.com/office/drawing/2014/main" id="{A816FA29-36FB-23A9-57A2-A6308ED44D7B}"/>
              </a:ext>
            </a:extLst>
          </p:cNvPr>
          <p:cNvSpPr/>
          <p:nvPr/>
        </p:nvSpPr>
        <p:spPr>
          <a:xfrm>
            <a:off x="6095999" y="4116386"/>
            <a:ext cx="3990535" cy="1013998"/>
          </a:xfrm>
          <a:prstGeom prst="flowChartTerminator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Améliorer les délais de traitement</a:t>
            </a:r>
          </a:p>
        </p:txBody>
      </p:sp>
      <p:sp>
        <p:nvSpPr>
          <p:cNvPr id="11" name="Terminaison 10">
            <a:extLst>
              <a:ext uri="{FF2B5EF4-FFF2-40B4-BE49-F238E27FC236}">
                <a16:creationId xmlns:a16="http://schemas.microsoft.com/office/drawing/2014/main" id="{F61CDA1C-39CA-C9AB-C8BE-1C6649E40B78}"/>
              </a:ext>
            </a:extLst>
          </p:cNvPr>
          <p:cNvSpPr/>
          <p:nvPr/>
        </p:nvSpPr>
        <p:spPr>
          <a:xfrm>
            <a:off x="6096000" y="5393981"/>
            <a:ext cx="3990534" cy="1026942"/>
          </a:xfrm>
          <a:prstGeom prst="flowChartTerminator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Capitaliser la connaissance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EE8A7FC-16FF-281C-CDCD-0C3DF5F36EFB}"/>
              </a:ext>
            </a:extLst>
          </p:cNvPr>
          <p:cNvSpPr/>
          <p:nvPr/>
        </p:nvSpPr>
        <p:spPr>
          <a:xfrm>
            <a:off x="689317" y="3094892"/>
            <a:ext cx="1913207" cy="174439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Structurer </a:t>
            </a:r>
            <a:br>
              <a:rPr lang="fr-FR" dirty="0"/>
            </a:br>
            <a:r>
              <a:rPr lang="fr-FR" dirty="0"/>
              <a:t>le</a:t>
            </a:r>
            <a:br>
              <a:rPr lang="fr-FR" dirty="0"/>
            </a:br>
            <a:r>
              <a:rPr lang="fr-FR" dirty="0"/>
              <a:t>support</a:t>
            </a:r>
          </a:p>
        </p:txBody>
      </p:sp>
      <p:cxnSp>
        <p:nvCxnSpPr>
          <p:cNvPr id="14" name="Connecteur en arc 13">
            <a:extLst>
              <a:ext uri="{FF2B5EF4-FFF2-40B4-BE49-F238E27FC236}">
                <a16:creationId xmlns:a16="http://schemas.microsoft.com/office/drawing/2014/main" id="{BBA1300A-7C3F-4C67-2ACD-761BA3DADF8A}"/>
              </a:ext>
            </a:extLst>
          </p:cNvPr>
          <p:cNvCxnSpPr>
            <a:cxnSpLocks/>
            <a:stCxn id="12" idx="6"/>
            <a:endCxn id="8" idx="1"/>
          </p:cNvCxnSpPr>
          <p:nvPr/>
        </p:nvCxnSpPr>
        <p:spPr>
          <a:xfrm flipV="1">
            <a:off x="2602524" y="2077550"/>
            <a:ext cx="3493476" cy="1889539"/>
          </a:xfrm>
          <a:prstGeom prst="curvedConnector3">
            <a:avLst/>
          </a:prstGeom>
          <a:ln>
            <a:solidFill>
              <a:schemeClr val="bg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en arc 15">
            <a:extLst>
              <a:ext uri="{FF2B5EF4-FFF2-40B4-BE49-F238E27FC236}">
                <a16:creationId xmlns:a16="http://schemas.microsoft.com/office/drawing/2014/main" id="{E29B53E6-4028-A284-D1E1-2717AA7C0768}"/>
              </a:ext>
            </a:extLst>
          </p:cNvPr>
          <p:cNvCxnSpPr>
            <a:cxnSpLocks/>
          </p:cNvCxnSpPr>
          <p:nvPr/>
        </p:nvCxnSpPr>
        <p:spPr>
          <a:xfrm flipV="1">
            <a:off x="2602524" y="3340992"/>
            <a:ext cx="3493476" cy="643596"/>
          </a:xfrm>
          <a:prstGeom prst="curvedConnector3">
            <a:avLst/>
          </a:prstGeom>
          <a:ln>
            <a:solidFill>
              <a:schemeClr val="bg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en arc 17">
            <a:extLst>
              <a:ext uri="{FF2B5EF4-FFF2-40B4-BE49-F238E27FC236}">
                <a16:creationId xmlns:a16="http://schemas.microsoft.com/office/drawing/2014/main" id="{8B9FE569-11B4-5668-40AB-B37CCEEB5B8E}"/>
              </a:ext>
            </a:extLst>
          </p:cNvPr>
          <p:cNvCxnSpPr>
            <a:cxnSpLocks/>
          </p:cNvCxnSpPr>
          <p:nvPr/>
        </p:nvCxnSpPr>
        <p:spPr>
          <a:xfrm>
            <a:off x="2602524" y="4008730"/>
            <a:ext cx="3493476" cy="624643"/>
          </a:xfrm>
          <a:prstGeom prst="curvedConnector3">
            <a:avLst/>
          </a:prstGeom>
          <a:ln>
            <a:solidFill>
              <a:schemeClr val="bg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en arc 29">
            <a:extLst>
              <a:ext uri="{FF2B5EF4-FFF2-40B4-BE49-F238E27FC236}">
                <a16:creationId xmlns:a16="http://schemas.microsoft.com/office/drawing/2014/main" id="{DE08135C-19AF-EF03-CA86-5F6BC5DF124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02524" y="4008730"/>
            <a:ext cx="3493476" cy="1898722"/>
          </a:xfrm>
          <a:prstGeom prst="curvedConnector3">
            <a:avLst/>
          </a:prstGeom>
          <a:ln>
            <a:solidFill>
              <a:schemeClr val="bg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26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1EAB3-EA78-00D1-C2E5-5B702C6A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5E0C2A-EFED-D151-5EAD-BF8463D1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Solution proposée MVP</a:t>
            </a:r>
          </a:p>
        </p:txBody>
      </p:sp>
      <p:pic>
        <p:nvPicPr>
          <p:cNvPr id="7" name="Espace réservé du contenu 6" descr="Ampoule sur arrière-plan jaune avec faisceaux de lumière et câble">
            <a:extLst>
              <a:ext uri="{FF2B5EF4-FFF2-40B4-BE49-F238E27FC236}">
                <a16:creationId xmlns:a16="http://schemas.microsoft.com/office/drawing/2014/main" id="{FA9BDFD2-C244-736B-E22A-09243628C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213" y="1867828"/>
            <a:ext cx="10059573" cy="4351338"/>
          </a:xfr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963A020-5343-7B78-2474-150D84EE984B}"/>
              </a:ext>
            </a:extLst>
          </p:cNvPr>
          <p:cNvSpPr txBox="1"/>
          <p:nvPr/>
        </p:nvSpPr>
        <p:spPr>
          <a:xfrm>
            <a:off x="1294227" y="3808828"/>
            <a:ext cx="585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Mise en place d’un niveau support IA accessible depuis un chat bot qui sera intégré dans Rainbow.</a:t>
            </a:r>
          </a:p>
        </p:txBody>
      </p:sp>
    </p:spTree>
    <p:extLst>
      <p:ext uri="{BB962C8B-B14F-4D97-AF65-F5344CB8AC3E}">
        <p14:creationId xmlns:p14="http://schemas.microsoft.com/office/powerpoint/2010/main" val="218887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ADD27-98FB-BA8C-A8F6-E9FE9E3B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Solution proposée MVP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35DF4D-6C90-8D4C-FA3E-9E5D4D55F621}"/>
              </a:ext>
            </a:extLst>
          </p:cNvPr>
          <p:cNvSpPr/>
          <p:nvPr/>
        </p:nvSpPr>
        <p:spPr>
          <a:xfrm>
            <a:off x="253217" y="2158425"/>
            <a:ext cx="2771335" cy="844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L0 = IA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F29F24-68C4-0652-E280-0B141C20A6C6}"/>
              </a:ext>
            </a:extLst>
          </p:cNvPr>
          <p:cNvSpPr/>
          <p:nvPr/>
        </p:nvSpPr>
        <p:spPr>
          <a:xfrm>
            <a:off x="253218" y="3002486"/>
            <a:ext cx="2771335" cy="311695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Interprète le texte du </a:t>
            </a:r>
            <a:r>
              <a:rPr lang="fr-FR" sz="1600" dirty="0" err="1"/>
              <a:t>chatbot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Crée le ticket et le catégorise/priorise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Assigne le ticket au group support concerné</a:t>
            </a:r>
          </a:p>
          <a:p>
            <a:endParaRPr lang="fr-FR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4F0030A-CACC-CB26-C080-225654727003}"/>
              </a:ext>
            </a:extLst>
          </p:cNvPr>
          <p:cNvSpPr txBox="1"/>
          <p:nvPr/>
        </p:nvSpPr>
        <p:spPr>
          <a:xfrm>
            <a:off x="6766555" y="3002487"/>
            <a:ext cx="2785403" cy="1788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A29C9F-75C7-E5A3-8B50-92D37022CF61}"/>
              </a:ext>
            </a:extLst>
          </p:cNvPr>
          <p:cNvSpPr/>
          <p:nvPr/>
        </p:nvSpPr>
        <p:spPr>
          <a:xfrm>
            <a:off x="3212123" y="2158425"/>
            <a:ext cx="2771335" cy="844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L1 = IA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932B2E-66C5-35A3-BE68-9E64D4C25AE2}"/>
              </a:ext>
            </a:extLst>
          </p:cNvPr>
          <p:cNvSpPr/>
          <p:nvPr/>
        </p:nvSpPr>
        <p:spPr>
          <a:xfrm>
            <a:off x="3212123" y="3002486"/>
            <a:ext cx="2771335" cy="311695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Recommande des solutions en se basant sur la KB et/ou internet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Alimente la KB au moment de la résolution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Escalade le ticket au L2 en fournissant des recommandations de résolution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6545A4-F4FB-7A15-C343-1B1593701983}"/>
              </a:ext>
            </a:extLst>
          </p:cNvPr>
          <p:cNvSpPr/>
          <p:nvPr/>
        </p:nvSpPr>
        <p:spPr>
          <a:xfrm>
            <a:off x="6171028" y="2158425"/>
            <a:ext cx="2771335" cy="844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L2 = Humain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abdallah</a:t>
            </a:r>
            <a:r>
              <a:rPr lang="fr-FR" dirty="0"/>
              <a:t> + </a:t>
            </a:r>
            <a:r>
              <a:rPr lang="fr-FR" dirty="0" err="1"/>
              <a:t>Helaissi</a:t>
            </a:r>
            <a:r>
              <a:rPr lang="fr-FR" dirty="0"/>
              <a:t>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7A38BD-FE77-46AE-E189-1AA92775D666}"/>
              </a:ext>
            </a:extLst>
          </p:cNvPr>
          <p:cNvSpPr/>
          <p:nvPr/>
        </p:nvSpPr>
        <p:spPr>
          <a:xfrm>
            <a:off x="6185096" y="3002487"/>
            <a:ext cx="2771335" cy="31169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Résout le problème si dans son scope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Ajoute une fiche de résolution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Assigne le ticket au l3 si besoin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28DC44-5471-5C61-E25D-9798F5B00DE6}"/>
              </a:ext>
            </a:extLst>
          </p:cNvPr>
          <p:cNvSpPr/>
          <p:nvPr/>
        </p:nvSpPr>
        <p:spPr>
          <a:xfrm>
            <a:off x="9129933" y="2158425"/>
            <a:ext cx="2771335" cy="844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L3 = Humain</a:t>
            </a:r>
          </a:p>
          <a:p>
            <a:pPr algn="ctr"/>
            <a:r>
              <a:rPr lang="fr-FR" dirty="0"/>
              <a:t>(les devs)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1A3FFBD-AB09-D931-87C0-DD1C3B1185FA}"/>
              </a:ext>
            </a:extLst>
          </p:cNvPr>
          <p:cNvSpPr/>
          <p:nvPr/>
        </p:nvSpPr>
        <p:spPr>
          <a:xfrm>
            <a:off x="9129933" y="3002487"/>
            <a:ext cx="2771335" cy="31169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Résout le problème</a:t>
            </a:r>
            <a:br>
              <a:rPr lang="fr-FR" sz="1600" dirty="0"/>
            </a:b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Ajoute une fiche de résolution</a:t>
            </a:r>
          </a:p>
        </p:txBody>
      </p:sp>
    </p:spTree>
    <p:extLst>
      <p:ext uri="{BB962C8B-B14F-4D97-AF65-F5344CB8AC3E}">
        <p14:creationId xmlns:p14="http://schemas.microsoft.com/office/powerpoint/2010/main" val="1500244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EB418-816E-D3A3-8EFA-14FBCBD7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Schématisation de la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03A8E3-2454-757B-5B82-0EAED109F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315" y="3255108"/>
            <a:ext cx="10017369" cy="636221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hlinkClick r:id="rId2"/>
              </a:rPr>
              <a:t>Flow chart - solution support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030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F121DF-4BFC-C73E-4CAB-93D8560B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Mise en place du MVP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6CB2F4D-9AE1-4AD5-C754-1BEEE85844FD}"/>
              </a:ext>
            </a:extLst>
          </p:cNvPr>
          <p:cNvSpPr/>
          <p:nvPr/>
        </p:nvSpPr>
        <p:spPr>
          <a:xfrm>
            <a:off x="492369" y="2138289"/>
            <a:ext cx="2475914" cy="4529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69F127B-8397-4DFA-5135-9E3EBEAD4138}"/>
              </a:ext>
            </a:extLst>
          </p:cNvPr>
          <p:cNvSpPr/>
          <p:nvPr/>
        </p:nvSpPr>
        <p:spPr>
          <a:xfrm>
            <a:off x="3423138" y="2138289"/>
            <a:ext cx="2475914" cy="4529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092F8F1-BE00-1AC9-1A00-C5147F0383F4}"/>
              </a:ext>
            </a:extLst>
          </p:cNvPr>
          <p:cNvSpPr/>
          <p:nvPr/>
        </p:nvSpPr>
        <p:spPr>
          <a:xfrm>
            <a:off x="6353907" y="2138288"/>
            <a:ext cx="2475914" cy="4529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0253B39-BB2B-7263-9EA6-3DB0C6AC47E2}"/>
              </a:ext>
            </a:extLst>
          </p:cNvPr>
          <p:cNvSpPr/>
          <p:nvPr/>
        </p:nvSpPr>
        <p:spPr>
          <a:xfrm>
            <a:off x="9284676" y="2138288"/>
            <a:ext cx="2475914" cy="4529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i="1" dirty="0"/>
              <a:t>• Tests internes avec l’équipe support</a:t>
            </a:r>
            <a:br>
              <a:rPr lang="fr-FR" sz="1600" i="1" dirty="0"/>
            </a:br>
            <a:endParaRPr lang="fr-FR" sz="1600" dirty="0"/>
          </a:p>
          <a:p>
            <a:r>
              <a:rPr lang="fr-FR" sz="1600" i="1" dirty="0"/>
              <a:t>• Ajustements des règles</a:t>
            </a:r>
            <a:br>
              <a:rPr lang="fr-FR" sz="1600" i="1" dirty="0"/>
            </a:br>
            <a:endParaRPr lang="fr-FR" sz="1600" dirty="0"/>
          </a:p>
          <a:p>
            <a:r>
              <a:rPr lang="fr-FR" sz="1600" i="1" dirty="0"/>
              <a:t>• Intégration du </a:t>
            </a:r>
            <a:r>
              <a:rPr lang="fr-FR" sz="1600" i="1" dirty="0" err="1"/>
              <a:t>chatbot</a:t>
            </a:r>
            <a:r>
              <a:rPr lang="fr-FR" sz="1600" i="1" dirty="0"/>
              <a:t> dans Rainbow et GLPI</a:t>
            </a:r>
            <a:endParaRPr lang="fr-FR" sz="1600" dirty="0"/>
          </a:p>
          <a:p>
            <a:pPr algn="ctr"/>
            <a:endParaRPr lang="fr-FR" dirty="0"/>
          </a:p>
        </p:txBody>
      </p:sp>
      <p:sp>
        <p:nvSpPr>
          <p:cNvPr id="12" name="Données stockées 11">
            <a:extLst>
              <a:ext uri="{FF2B5EF4-FFF2-40B4-BE49-F238E27FC236}">
                <a16:creationId xmlns:a16="http://schemas.microsoft.com/office/drawing/2014/main" id="{DFFFE6DF-087A-7FD0-902F-6509C0F36F0F}"/>
              </a:ext>
            </a:extLst>
          </p:cNvPr>
          <p:cNvSpPr/>
          <p:nvPr/>
        </p:nvSpPr>
        <p:spPr>
          <a:xfrm>
            <a:off x="689317" y="2377440"/>
            <a:ext cx="2110154" cy="576775"/>
          </a:xfrm>
          <a:prstGeom prst="flowChartOnlineStorag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Phase 1</a:t>
            </a:r>
          </a:p>
        </p:txBody>
      </p:sp>
      <p:sp>
        <p:nvSpPr>
          <p:cNvPr id="15" name="Données stockées 14">
            <a:extLst>
              <a:ext uri="{FF2B5EF4-FFF2-40B4-BE49-F238E27FC236}">
                <a16:creationId xmlns:a16="http://schemas.microsoft.com/office/drawing/2014/main" id="{56B7D8C7-1D9E-DB88-CC71-FAE8602D6F51}"/>
              </a:ext>
            </a:extLst>
          </p:cNvPr>
          <p:cNvSpPr/>
          <p:nvPr/>
        </p:nvSpPr>
        <p:spPr>
          <a:xfrm>
            <a:off x="3606018" y="2377440"/>
            <a:ext cx="2110154" cy="576775"/>
          </a:xfrm>
          <a:prstGeom prst="flowChartOnlineStorag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Phase 2</a:t>
            </a:r>
          </a:p>
        </p:txBody>
      </p:sp>
      <p:sp>
        <p:nvSpPr>
          <p:cNvPr id="16" name="Données stockées 15">
            <a:extLst>
              <a:ext uri="{FF2B5EF4-FFF2-40B4-BE49-F238E27FC236}">
                <a16:creationId xmlns:a16="http://schemas.microsoft.com/office/drawing/2014/main" id="{099DE4B1-C61D-E94D-2C01-EE9DE974F99F}"/>
              </a:ext>
            </a:extLst>
          </p:cNvPr>
          <p:cNvSpPr/>
          <p:nvPr/>
        </p:nvSpPr>
        <p:spPr>
          <a:xfrm>
            <a:off x="6536787" y="2377439"/>
            <a:ext cx="2110154" cy="576775"/>
          </a:xfrm>
          <a:prstGeom prst="flowChartOnlineStorag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Phase 3</a:t>
            </a:r>
          </a:p>
        </p:txBody>
      </p:sp>
      <p:sp>
        <p:nvSpPr>
          <p:cNvPr id="17" name="Données stockées 16">
            <a:extLst>
              <a:ext uri="{FF2B5EF4-FFF2-40B4-BE49-F238E27FC236}">
                <a16:creationId xmlns:a16="http://schemas.microsoft.com/office/drawing/2014/main" id="{B47888B1-3932-D7E3-5D1D-43D3907BB1DA}"/>
              </a:ext>
            </a:extLst>
          </p:cNvPr>
          <p:cNvSpPr/>
          <p:nvPr/>
        </p:nvSpPr>
        <p:spPr>
          <a:xfrm>
            <a:off x="9467556" y="2377439"/>
            <a:ext cx="2110154" cy="576775"/>
          </a:xfrm>
          <a:prstGeom prst="flowChartOnlineStorag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Phase 4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791FCB3-B78C-A98B-1471-337792504F4F}"/>
              </a:ext>
            </a:extLst>
          </p:cNvPr>
          <p:cNvSpPr txBox="1"/>
          <p:nvPr/>
        </p:nvSpPr>
        <p:spPr>
          <a:xfrm>
            <a:off x="689317" y="3151163"/>
            <a:ext cx="211015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• Catégorisation des incidents existants</a:t>
            </a:r>
            <a:br>
              <a:rPr lang="fr-FR" sz="1600" i="1" dirty="0">
                <a:solidFill>
                  <a:schemeClr val="bg1"/>
                </a:solidFill>
              </a:rPr>
            </a:br>
            <a:endParaRPr lang="fr-FR" sz="1600" dirty="0">
              <a:solidFill>
                <a:schemeClr val="bg1"/>
              </a:solidFill>
            </a:endParaRPr>
          </a:p>
          <a:p>
            <a:r>
              <a:rPr lang="fr-FR" sz="1600" i="1" dirty="0">
                <a:solidFill>
                  <a:schemeClr val="bg1"/>
                </a:solidFill>
              </a:rPr>
              <a:t>• Analyse des volumes de tickets</a:t>
            </a:r>
            <a:br>
              <a:rPr lang="fr-FR" sz="1600" i="1" dirty="0">
                <a:solidFill>
                  <a:schemeClr val="bg1"/>
                </a:solidFill>
              </a:rPr>
            </a:br>
            <a:endParaRPr lang="fr-FR" sz="1600" dirty="0">
              <a:solidFill>
                <a:schemeClr val="bg1"/>
              </a:solidFill>
            </a:endParaRPr>
          </a:p>
          <a:p>
            <a:r>
              <a:rPr lang="fr-FR" sz="1600" i="1" dirty="0">
                <a:solidFill>
                  <a:schemeClr val="bg1"/>
                </a:solidFill>
              </a:rPr>
              <a:t>• Calcul du MTTR actuel</a:t>
            </a:r>
            <a:br>
              <a:rPr lang="fr-FR" sz="1600" i="1" dirty="0">
                <a:solidFill>
                  <a:schemeClr val="bg1"/>
                </a:solidFill>
              </a:rPr>
            </a:br>
            <a:endParaRPr lang="fr-FR" sz="1600" dirty="0">
              <a:solidFill>
                <a:schemeClr val="bg1"/>
              </a:solidFill>
            </a:endParaRPr>
          </a:p>
          <a:p>
            <a:r>
              <a:rPr lang="fr-FR" sz="1600" i="1" dirty="0">
                <a:solidFill>
                  <a:schemeClr val="bg1"/>
                </a:solidFill>
              </a:rPr>
              <a:t>• Collecte de fiches de résolution auprès du support</a:t>
            </a:r>
            <a:endParaRPr lang="fr-FR" sz="1600" dirty="0">
              <a:solidFill>
                <a:schemeClr val="bg1"/>
              </a:solidFill>
            </a:endParaRPr>
          </a:p>
          <a:p>
            <a:endParaRPr lang="fr-FR" sz="16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3A67C26-546B-3601-A824-5900BBE6D821}"/>
              </a:ext>
            </a:extLst>
          </p:cNvPr>
          <p:cNvSpPr txBox="1"/>
          <p:nvPr/>
        </p:nvSpPr>
        <p:spPr>
          <a:xfrm>
            <a:off x="3606018" y="3151163"/>
            <a:ext cx="211015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• Développement du </a:t>
            </a:r>
            <a:r>
              <a:rPr lang="fr-FR" sz="1600" i="1" dirty="0" err="1">
                <a:solidFill>
                  <a:schemeClr val="bg1"/>
                </a:solidFill>
              </a:rPr>
              <a:t>chatbot</a:t>
            </a:r>
            <a:r>
              <a:rPr lang="fr-FR" sz="1600" i="1" dirty="0">
                <a:solidFill>
                  <a:schemeClr val="bg1"/>
                </a:solidFill>
              </a:rPr>
              <a:t> + IA L0</a:t>
            </a:r>
            <a:br>
              <a:rPr lang="fr-FR" sz="1600" i="1" dirty="0">
                <a:solidFill>
                  <a:schemeClr val="bg1"/>
                </a:solidFill>
              </a:rPr>
            </a:br>
            <a:endParaRPr lang="fr-FR" sz="1600" dirty="0">
              <a:solidFill>
                <a:schemeClr val="bg1"/>
              </a:solidFill>
            </a:endParaRPr>
          </a:p>
          <a:p>
            <a:r>
              <a:rPr lang="fr-FR" sz="1600" i="1" dirty="0">
                <a:solidFill>
                  <a:schemeClr val="bg1"/>
                </a:solidFill>
              </a:rPr>
              <a:t>• Création automatique des tickets dans GLPI</a:t>
            </a:r>
            <a:br>
              <a:rPr lang="fr-FR" sz="1600" i="1" dirty="0">
                <a:solidFill>
                  <a:schemeClr val="bg1"/>
                </a:solidFill>
              </a:rPr>
            </a:br>
            <a:endParaRPr lang="fr-FR" sz="1600" dirty="0">
              <a:solidFill>
                <a:schemeClr val="bg1"/>
              </a:solidFill>
            </a:endParaRPr>
          </a:p>
          <a:p>
            <a:r>
              <a:rPr lang="fr-FR" sz="1600" i="1" dirty="0">
                <a:solidFill>
                  <a:schemeClr val="bg1"/>
                </a:solidFill>
              </a:rPr>
              <a:t>• Catégorisation et priorisation des tickets</a:t>
            </a:r>
            <a:endParaRPr lang="fr-FR" sz="1600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B0F9AA6-4327-13B2-3ADE-8C998D578B5F}"/>
              </a:ext>
            </a:extLst>
          </p:cNvPr>
          <p:cNvSpPr txBox="1"/>
          <p:nvPr/>
        </p:nvSpPr>
        <p:spPr>
          <a:xfrm>
            <a:off x="6428935" y="3151163"/>
            <a:ext cx="240088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• Génération des articles KB à partir des fiches de résolution</a:t>
            </a:r>
            <a:br>
              <a:rPr lang="fr-FR" sz="1600" i="1" dirty="0">
                <a:solidFill>
                  <a:schemeClr val="bg1"/>
                </a:solidFill>
              </a:rPr>
            </a:br>
            <a:endParaRPr lang="fr-FR" sz="1600" dirty="0">
              <a:solidFill>
                <a:schemeClr val="bg1"/>
              </a:solidFill>
            </a:endParaRPr>
          </a:p>
          <a:p>
            <a:r>
              <a:rPr lang="fr-FR" sz="1600" i="1" dirty="0">
                <a:solidFill>
                  <a:schemeClr val="bg1"/>
                </a:solidFill>
              </a:rPr>
              <a:t>• Mise en place des règles d’utilisation d’Internet</a:t>
            </a:r>
            <a:br>
              <a:rPr lang="fr-FR" sz="1600" i="1" dirty="0">
                <a:solidFill>
                  <a:schemeClr val="bg1"/>
                </a:solidFill>
              </a:rPr>
            </a:br>
            <a:endParaRPr lang="fr-FR" sz="1600" dirty="0">
              <a:solidFill>
                <a:schemeClr val="bg1"/>
              </a:solidFill>
            </a:endParaRPr>
          </a:p>
          <a:p>
            <a:r>
              <a:rPr lang="fr-FR" sz="1600" i="1" dirty="0">
                <a:solidFill>
                  <a:schemeClr val="bg1"/>
                </a:solidFill>
              </a:rPr>
              <a:t>• Amélioration continue de la KB</a:t>
            </a:r>
            <a:br>
              <a:rPr lang="fr-FR" sz="1600" i="1" dirty="0">
                <a:solidFill>
                  <a:schemeClr val="bg1"/>
                </a:solidFill>
              </a:rPr>
            </a:br>
            <a:endParaRPr lang="fr-FR" sz="1600" dirty="0">
              <a:solidFill>
                <a:schemeClr val="bg1"/>
              </a:solidFill>
            </a:endParaRPr>
          </a:p>
          <a:p>
            <a:r>
              <a:rPr lang="fr-FR" sz="1600" i="1" dirty="0">
                <a:solidFill>
                  <a:schemeClr val="bg1"/>
                </a:solidFill>
              </a:rPr>
              <a:t>• Développement de l’IA L1</a:t>
            </a:r>
            <a:endParaRPr lang="fr-FR" sz="1600" dirty="0">
              <a:solidFill>
                <a:schemeClr val="bg1"/>
              </a:solidFill>
            </a:endParaRPr>
          </a:p>
        </p:txBody>
      </p:sp>
      <p:sp>
        <p:nvSpPr>
          <p:cNvPr id="22" name="Flèche droite à entaille 21">
            <a:extLst>
              <a:ext uri="{FF2B5EF4-FFF2-40B4-BE49-F238E27FC236}">
                <a16:creationId xmlns:a16="http://schemas.microsoft.com/office/drawing/2014/main" id="{495B1967-F628-39D9-3751-84D49187C2A4}"/>
              </a:ext>
            </a:extLst>
          </p:cNvPr>
          <p:cNvSpPr/>
          <p:nvPr/>
        </p:nvSpPr>
        <p:spPr>
          <a:xfrm>
            <a:off x="689317" y="1743709"/>
            <a:ext cx="10515600" cy="324926"/>
          </a:xfrm>
          <a:prstGeom prst="notched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1091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68BF5-BB5D-93E3-4E38-15376C192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9F12CE-0375-3C91-6A2F-227FC635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Glossaire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2BC146F-D88C-EDC6-134A-04D44E0EA1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57759"/>
            <a:ext cx="7110046" cy="4249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2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L’IA automatise la création et à la catégorisation des tickets</a:t>
            </a:r>
            <a:br>
              <a:rPr kumimoji="0" lang="fr-FR" altLang="fr-FR" sz="22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fr-FR" altLang="fr-FR" sz="22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2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L’IA propose des recommandations issues de la KB/internet</a:t>
            </a:r>
            <a:br>
              <a:rPr kumimoji="0" lang="fr-FR" altLang="fr-FR" sz="22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kumimoji="0" lang="fr-FR" altLang="fr-FR" sz="2200" b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2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L’IA ne réalise aucune action technique</a:t>
            </a:r>
            <a:br>
              <a:rPr kumimoji="0" lang="fr-FR" altLang="fr-FR" sz="22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kumimoji="0" lang="fr-FR" altLang="fr-FR" sz="2200" b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2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Le contrôle et la validation restent humains</a:t>
            </a:r>
            <a:br>
              <a:rPr kumimoji="0" lang="fr-FR" altLang="fr-FR" sz="22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kumimoji="0" lang="fr-FR" altLang="fr-FR" sz="2200" b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r>
              <a:rPr lang="fr-FR" sz="2200" dirty="0">
                <a:solidFill>
                  <a:schemeClr val="bg1"/>
                </a:solidFill>
              </a:rPr>
              <a:t>Le support humain reste responsable du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31024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1A5CE8-95F4-EF77-F6F2-2555D2F3A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Glossaire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5747B5-E96E-EE1C-3546-5606472BC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200" dirty="0">
                <a:solidFill>
                  <a:schemeClr val="bg1"/>
                </a:solidFill>
              </a:rPr>
              <a:t>La KB est organisée par catégories et sous-catégories d’incidents/problèmes</a:t>
            </a:r>
            <a:br>
              <a:rPr lang="fr-FR" sz="2200" dirty="0">
                <a:solidFill>
                  <a:schemeClr val="bg1"/>
                </a:solidFill>
              </a:rPr>
            </a:br>
            <a:endParaRPr lang="fr-FR" sz="2200" dirty="0">
              <a:solidFill>
                <a:schemeClr val="bg1"/>
              </a:solidFill>
            </a:endParaRPr>
          </a:p>
          <a:p>
            <a:r>
              <a:rPr lang="fr-FR" sz="2200" dirty="0">
                <a:solidFill>
                  <a:schemeClr val="bg1"/>
                </a:solidFill>
              </a:rPr>
              <a:t> Chaque catégorie possède un statut indiquant si :</a:t>
            </a:r>
            <a:br>
              <a:rPr lang="fr-FR" sz="2200" dirty="0">
                <a:solidFill>
                  <a:schemeClr val="bg1"/>
                </a:solidFill>
              </a:rPr>
            </a:br>
            <a:br>
              <a:rPr lang="fr-FR" sz="2200" dirty="0">
                <a:solidFill>
                  <a:schemeClr val="bg1"/>
                </a:solidFill>
              </a:rPr>
            </a:br>
            <a:r>
              <a:rPr lang="fr-FR" sz="2200" dirty="0">
                <a:solidFill>
                  <a:schemeClr val="bg1"/>
                </a:solidFill>
              </a:rPr>
              <a:t>	-l’IA peut s’appuyer uniquement sur la KB</a:t>
            </a:r>
            <a:br>
              <a:rPr lang="fr-FR" sz="2200" dirty="0">
                <a:solidFill>
                  <a:schemeClr val="bg1"/>
                </a:solidFill>
              </a:rPr>
            </a:br>
            <a:r>
              <a:rPr lang="fr-FR" sz="2200" dirty="0">
                <a:solidFill>
                  <a:schemeClr val="bg1"/>
                </a:solidFill>
              </a:rPr>
              <a:t>	</a:t>
            </a:r>
            <a:br>
              <a:rPr lang="fr-FR" sz="2200" dirty="0">
                <a:solidFill>
                  <a:schemeClr val="bg1"/>
                </a:solidFill>
              </a:rPr>
            </a:br>
            <a:r>
              <a:rPr lang="fr-FR" sz="2200" dirty="0">
                <a:solidFill>
                  <a:schemeClr val="bg1"/>
                </a:solidFill>
              </a:rPr>
              <a:t>	-des sources Internet peuvent être utilisées en</a:t>
            </a:r>
          </a:p>
          <a:p>
            <a:pPr marL="0" indent="0">
              <a:buNone/>
            </a:pPr>
            <a:endParaRPr lang="fr-FR" sz="2200" dirty="0">
              <a:solidFill>
                <a:schemeClr val="bg1"/>
              </a:solidFill>
            </a:endParaRPr>
          </a:p>
          <a:p>
            <a:r>
              <a:rPr lang="fr-FR" sz="2200" dirty="0">
                <a:solidFill>
                  <a:schemeClr val="bg1"/>
                </a:solidFill>
              </a:rPr>
              <a:t> La KB est alimentée à partir de fiches de résolution fournies par le support</a:t>
            </a:r>
            <a:br>
              <a:rPr lang="fr-FR" sz="2200" dirty="0">
                <a:solidFill>
                  <a:schemeClr val="bg1"/>
                </a:solidFill>
              </a:rPr>
            </a:br>
            <a:endParaRPr lang="fr-FR" sz="2200" dirty="0">
              <a:solidFill>
                <a:schemeClr val="bg1"/>
              </a:solidFill>
            </a:endParaRPr>
          </a:p>
          <a:p>
            <a:r>
              <a:rPr lang="fr-FR" sz="2200" dirty="0">
                <a:solidFill>
                  <a:schemeClr val="bg1"/>
                </a:solidFill>
              </a:rPr>
              <a:t> L’IA transforme ces fiches en articles structurés</a:t>
            </a:r>
            <a:br>
              <a:rPr lang="fr-FR" sz="2200" dirty="0">
                <a:solidFill>
                  <a:schemeClr val="bg1"/>
                </a:solidFill>
              </a:rPr>
            </a:br>
            <a:endParaRPr lang="fr-FR" sz="2200" dirty="0">
              <a:solidFill>
                <a:schemeClr val="bg1"/>
              </a:solidFill>
            </a:endParaRPr>
          </a:p>
          <a:p>
            <a:r>
              <a:rPr lang="fr-FR" sz="2200" dirty="0">
                <a:solidFill>
                  <a:schemeClr val="bg1"/>
                </a:solidFill>
              </a:rPr>
              <a:t> Les articles sont validés par le support avant publication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924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6F0E705-A2A2-B0E8-9532-F6399C1A5F65}"/>
              </a:ext>
            </a:extLst>
          </p:cNvPr>
          <p:cNvSpPr txBox="1"/>
          <p:nvPr/>
        </p:nvSpPr>
        <p:spPr>
          <a:xfrm>
            <a:off x="5022165" y="3013501"/>
            <a:ext cx="1842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924917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bf6341c-8206-471e-ae70-4dd1374769f9}" enabled="1" method="Privileged" siteId="{e6cbec2f-2f23-43ca-82c4-51a7c9b71e7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</TotalTime>
  <Words>545</Words>
  <Application>Microsoft Macintosh PowerPoint</Application>
  <PresentationFormat>Grand écran</PresentationFormat>
  <Paragraphs>76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Thème Office</vt:lpstr>
      <vt:lpstr>Présentation PowerPoint</vt:lpstr>
      <vt:lpstr>Contexte &amp; problème </vt:lpstr>
      <vt:lpstr>Analyse de l’existant : Constat</vt:lpstr>
      <vt:lpstr>Enjeux &amp; besoins </vt:lpstr>
      <vt:lpstr>Solution proposée MVP</vt:lpstr>
      <vt:lpstr>Solution proposée MVP</vt:lpstr>
      <vt:lpstr>Schématisation de la solution</vt:lpstr>
      <vt:lpstr>Mise en place du MVP</vt:lpstr>
      <vt:lpstr>Glossaire</vt:lpstr>
      <vt:lpstr>Glossaire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Slim CHKIR (EXT)</dc:creator>
  <cp:lastModifiedBy>Slim CHKIR (EXT)</cp:lastModifiedBy>
  <cp:revision>2</cp:revision>
  <dcterms:created xsi:type="dcterms:W3CDTF">2026-01-02T15:08:52Z</dcterms:created>
  <dcterms:modified xsi:type="dcterms:W3CDTF">2026-01-02T19:32:40Z</dcterms:modified>
</cp:coreProperties>
</file>